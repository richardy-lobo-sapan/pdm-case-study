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first: under assumed costs, acting on the model's lower bound costs 18% less per engine than the best fixed schedule (95% range 9–25%). The rest of the deck shows how, and where it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Assumed costs: a failure is $150k with downtime, a planned job $30k, a 5× gap. The best fixed schedule avoids failures by replacing at cycle 127, so most engines still had life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case rests on three questions. Each answer is backed by one of the next three findings and the money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 training engines run until failure; 100 test engines stop early with their true remaining life published. Twelve sensors trend strongly toward failure. The lack of early failures flatters fixed schedules.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engine is compared with its own first cycles. The alarm fires for all 100 engines; 90% get at least 55 cycles of warning. Isolation Forest ties; PCA reaches 17% false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LightGBM on rolling features: RMSE 13.1 on the test set, 12.2 in cross-validation. Raw quantile ranges were overconfident; calibration brings them to 89% on test. All 11 misses had more life than predicted. Without engine age as an input the test RMSE is 14.8: the model reads wear, not just 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prediction lists its top three drivers in plain words. The note above is the deterministic template; with an API key an LLM writes it, and every number it uses is checked against the model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to failure costs $150.0k per engine, the best fixed schedule $39.0k, predictive $32.0k (79% below run to failure). Using the point estimate instead of the lower bound gives 17.6% vs 18.1%: once the threshold is chosen by cost (15 vs 5 cycles) the two are nearly tied. Redoing the threshold choice inside every bootstrap resample widens the range to 7–28%, still above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 first on real data, with this deck's results as the bar to clear. Then replace the assumed costs and re-run the sensitivity before scaling up. The dashboard and field notes already support daily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Predictive pays once a breakdown costs at least 1.1× a planned job (downtime included); from there up to 20×, savings stay between 7% and 19%. The real risks are a low value on wasted life and slow replacement. On the harder FD004 subset (6 operating conditions, 2 fault types, 249 engines) the same pipeline saves 28% against the best fixed schedule (22–30% with settings re-chosen in each resample), but its ranges hold only 84% of test rows and 15 test engines failed before the lower bound: calibrate per operating condition before a multi-condition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EC1FF"/>
                </a:solidFill>
                <a:latin typeface="Calibri"/>
              </a:rPr>
              <a:t>PREDICTIVE MAINTENANCE ·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mbria"/>
              </a:rPr>
              <a:t>Predictive maintenance could cut maintenance cost by 18% versus the best fixed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803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B8C4CE"/>
                </a:solidFill>
                <a:latin typeface="Calibri"/>
              </a:rPr>
              <a:t>Early warning, remaining-life ranges and cost-chosen alerts, tested on NASA turbofan simulation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86200"/>
            <a:ext cx="3502152" cy="1965960"/>
          </a:xfrm>
          <a:prstGeom prst="roundRect">
            <a:avLst>
              <a:gd name="adj" fmla="val 7000"/>
            </a:avLst>
          </a:prstGeom>
          <a:solidFill>
            <a:srgbClr val="22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50791"/>
            <a:ext cx="30449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8EC1FF"/>
                </a:solidFill>
                <a:latin typeface="Cambria"/>
              </a:rPr>
              <a:t>18%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54880"/>
            <a:ext cx="3044952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cheaper per engine than the best fixed schedule (95% range 9–25%)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3886200"/>
            <a:ext cx="3502152" cy="1965960"/>
          </a:xfrm>
          <a:prstGeom prst="roundRect">
            <a:avLst>
              <a:gd name="adj" fmla="val 7000"/>
            </a:avLst>
          </a:prstGeom>
          <a:solidFill>
            <a:srgbClr val="22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4050791"/>
            <a:ext cx="30449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8EC1FF"/>
                </a:solidFill>
                <a:latin typeface="Cambria"/>
              </a:rPr>
              <a:t>100/100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4754880"/>
            <a:ext cx="3044952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engines warned before failure; 90% of them at least 55 cycles ahead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3886200"/>
            <a:ext cx="3502152" cy="1965960"/>
          </a:xfrm>
          <a:prstGeom prst="roundRect">
            <a:avLst>
              <a:gd name="adj" fmla="val 7000"/>
            </a:avLst>
          </a:prstGeom>
          <a:solidFill>
            <a:srgbClr val="22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4050791"/>
            <a:ext cx="30449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8EC1FF"/>
                </a:solidFill>
                <a:latin typeface="Cambri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4754880"/>
            <a:ext cx="3044952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test engines failed before their predicted lower bound (of 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82512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8C4CE"/>
                </a:solidFill>
                <a:latin typeface="Calibri"/>
              </a:rPr>
              <a:t>Stand-in data: NASA C-MAPSS FD001 turbofan simulation, not real field data. All costs are assumptions (configs/costs.yaml).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2733"/>
                </a:solidFill>
                <a:latin typeface="Cambria"/>
              </a:rPr>
              <a:t>Unplanned breakdowns cost 5× a planned replacement, and fixed schedules throw away 79 cycles of good life per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Costs are ASSUMED placeholders (configs/costs.yaml), not real company or industry figures. Wasted life: Phase 5 simulation on held-out engines.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383280" cy="201168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01952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D03B3B"/>
                </a:solidFill>
                <a:latin typeface="Cambria"/>
              </a:rPr>
              <a:t>$150k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39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unplanned failure: repair plus 10 cycles of downtime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737360"/>
            <a:ext cx="3383280" cy="201168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901952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8D6"/>
                </a:solidFill>
                <a:latin typeface="Cambria"/>
              </a:rPr>
              <a:t>$30k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06039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planned replacement: parts plus 2 cycles of downtime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6995160" cy="201168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42231"/>
            <a:ext cx="6537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8D6"/>
                </a:solidFill>
                <a:latin typeface="Cambria"/>
              </a:rPr>
              <a:t>79 cycles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6537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of remaining life discarded per engine by the best fixed schedule (replace every 127 cycles), because no engine may fail before its turn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737360"/>
            <a:ext cx="3776472" cy="4251960"/>
          </a:xfrm>
          <a:prstGeom prst="roundRect">
            <a:avLst>
              <a:gd name="adj" fmla="val 7000"/>
            </a:avLst>
          </a:prstGeom>
          <a:solidFill>
            <a:srgbClr val="14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659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EC1FF"/>
                </a:solidFill>
                <a:latin typeface="Calibri"/>
              </a:rPr>
              <a:t>THE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377440"/>
            <a:ext cx="3246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Can sensor data warn us early enough, and reliably enough, to save money?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31920"/>
            <a:ext cx="32461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Breakdowns stop operations and cost far more than planned work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Fixed schedules avoid most breakdowns by replacing parts early</a:t>
            </a:r>
          </a:p>
          <a:p>
            <a:pPr algn="l" marL="201168" indent="-201168">
              <a:spcAft>
                <a:spcPts val="8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Calibri"/>
              </a:rPr>
              <a:t>Both waste money: the goal is to replace just in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2733"/>
                </a:solidFill>
                <a:latin typeface="Cambria"/>
              </a:rPr>
              <a:t>Three questions decide whether sensor data pays for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Answers from engine-grouped validation on the FD001 training engines and the official test 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2743200" cy="2011680"/>
          </a:xfrm>
          <a:prstGeom prst="roundRect">
            <a:avLst>
              <a:gd name="adj" fmla="val 7000"/>
            </a:avLst>
          </a:prstGeom>
          <a:solidFill>
            <a:srgbClr val="14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228600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mbria"/>
              </a:rPr>
              <a:t>Can sensor data warn early enough, and reliably enough, to save money?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291840" y="2286000"/>
            <a:ext cx="548640" cy="1325880"/>
          </a:xfrm>
          <a:prstGeom prst="line">
            <a:avLst/>
          </a:prstGeom>
          <a:ln w="15875">
            <a:solidFill>
              <a:srgbClr val="5B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840480" y="1691640"/>
            <a:ext cx="3108960" cy="11887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691640"/>
            <a:ext cx="26517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Calibri"/>
              </a:rPr>
              <a:t>Can we see failure coming?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0" y="2286000"/>
            <a:ext cx="457200" cy="0"/>
          </a:xfrm>
          <a:prstGeom prst="line">
            <a:avLst/>
          </a:prstGeom>
          <a:ln w="15875">
            <a:solidFill>
              <a:srgbClr val="5B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06640" y="1691640"/>
            <a:ext cx="423367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Yes. A simple health index warns 100 of 100 engines, 90% of them at least 55 cycles ahead, with 4% false alarms.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3611880"/>
            <a:ext cx="548640" cy="182880"/>
          </a:xfrm>
          <a:prstGeom prst="line">
            <a:avLst/>
          </a:prstGeom>
          <a:ln w="15875">
            <a:solidFill>
              <a:srgbClr val="5B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40480" y="3200400"/>
            <a:ext cx="3108960" cy="11887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3200400"/>
            <a:ext cx="26517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Calibri"/>
              </a:rPr>
              <a:t>Can we say how long is left, with a range?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3794760"/>
            <a:ext cx="457200" cy="0"/>
          </a:xfrm>
          <a:prstGeom prst="line">
            <a:avLst/>
          </a:prstGeom>
          <a:ln w="15875">
            <a:solidFill>
              <a:srgbClr val="5B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06640" y="3200400"/>
            <a:ext cx="423367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Yes. Error of about 13 cycles on unseen engines; 89% of ranges hold the truth.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1840" y="3611880"/>
            <a:ext cx="548640" cy="1691640"/>
          </a:xfrm>
          <a:prstGeom prst="line">
            <a:avLst/>
          </a:prstGeom>
          <a:ln w="15875">
            <a:solidFill>
              <a:srgbClr val="5B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40480" y="4709160"/>
            <a:ext cx="3108960" cy="11887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4709160"/>
            <a:ext cx="26517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Calibri"/>
              </a:rPr>
              <a:t>Does acting on it save money?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49440" y="5303520"/>
            <a:ext cx="457200" cy="0"/>
          </a:xfrm>
          <a:prstGeom prst="line">
            <a:avLst/>
          </a:prstGeom>
          <a:ln w="15875">
            <a:solidFill>
              <a:srgbClr val="5B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06640" y="4709160"/>
            <a:ext cx="423367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733"/>
                </a:solidFill>
                <a:latin typeface="Calibri"/>
              </a:rPr>
              <a:t>Yes, under assumed costs: 18% cheaper than the best fixed schedule, when the alert threshold is chosen by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2733"/>
                </a:solidFill>
                <a:latin typeface="Cambria"/>
              </a:rPr>
              <a:t>NASA turbofan data is a fair stand-in for rotating equipment, with clear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Stand-in data: NASA C-MAPSS FD001 turbofan simulation, not real field data. Sensor names from NASA's C-MAPSS documentation.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2331720" cy="16002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56232"/>
            <a:ext cx="18745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Cambria"/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engines run to failure (training)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691640"/>
            <a:ext cx="2331720" cy="16002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56232"/>
            <a:ext cx="18745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Cambria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56032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engines stopped early, true life known (test)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2331720" cy="16002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39312"/>
            <a:ext cx="18745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Cambria"/>
              </a:rPr>
              <a:t>14 of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sensors used; 7 barely change and were dropped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474720"/>
            <a:ext cx="2331720" cy="16002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3639312"/>
            <a:ext cx="18745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Cambria"/>
              </a:rPr>
              <a:t>128–362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34340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cycles to failure in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4924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2733"/>
                </a:solidFill>
                <a:latin typeface="Calibri"/>
              </a:rPr>
              <a:t>Use with care: </a:t>
            </a:r>
            <a:r>
              <a:rPr sz="1400" b="0">
                <a:solidFill>
                  <a:srgbClr val="1B2733"/>
                </a:solidFill>
                <a:latin typeface="Calibri"/>
              </a:rPr>
              <a:t>one simulated fault mode, no early-life failures (shortest life 128 cycles), and only 100 run-to-failure engines.</a:t>
            </a:r>
          </a:p>
        </p:txBody>
      </p:sp>
      <p:pic>
        <p:nvPicPr>
          <p:cNvPr id="17" name="Picture 16" descr="eda_trend_str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128230"/>
            <a:ext cx="5925312" cy="36073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2733"/>
                </a:solidFill>
                <a:latin typeface="Cambria"/>
              </a:rPr>
              <a:t>Sensors warn all 100 engines before failure, 90% of them at least 55 cycles ahead, with 4% false alarms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5-fold engine-grouped cross-validation on the FD001 training engines (each engine scored by models that never saw it).</a:t>
            </a:r>
          </a:p>
        </p:txBody>
      </p:sp>
      <p:pic>
        <p:nvPicPr>
          <p:cNvPr id="4" name="Picture 3" descr="anomaly_le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8232"/>
            <a:ext cx="7223760" cy="378165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92440" y="1691640"/>
            <a:ext cx="3547872" cy="14173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856232"/>
            <a:ext cx="3090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Cambria"/>
              </a:rPr>
              <a:t>80 cycles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560320"/>
            <a:ext cx="3090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median warning before failure (z-score health index)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291840"/>
            <a:ext cx="3547872" cy="14173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456432"/>
            <a:ext cx="30906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Cambria"/>
              </a:rPr>
              <a:t>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160520"/>
            <a:ext cx="3090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false alarms: 3 of 70 engines with a clearly healthy period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4892040"/>
            <a:ext cx="3547872" cy="128016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983480"/>
            <a:ext cx="3108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2733"/>
                </a:solidFill>
                <a:latin typeface="Calibri"/>
              </a:rPr>
              <a:t>A simple method wins. </a:t>
            </a:r>
            <a:r>
              <a:rPr sz="1400" b="0">
                <a:solidFill>
                  <a:srgbClr val="1B2733"/>
                </a:solidFill>
                <a:latin typeface="Calibri"/>
              </a:rPr>
              <a:t>Isolation Forest ties it (median 80 cycles); PCA misses 6 engines.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2733"/>
                </a:solidFill>
                <a:latin typeface="Cambria"/>
              </a:rPr>
              <a:t>Remaining life is predicted within about 13 cycles, and no test engine failed before its lower bound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Official FD001 test set, last observed cycle of each of 100 engines; ranges calibrated with cross-conformal prediction.</a:t>
            </a:r>
          </a:p>
        </p:txBody>
      </p:sp>
      <p:pic>
        <p:nvPicPr>
          <p:cNvPr id="4" name="Picture 3" descr="rul_test_inter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16918"/>
            <a:ext cx="7406640" cy="323000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83879" y="169164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856232"/>
            <a:ext cx="29992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Cambria"/>
              </a:rPr>
              <a:t>13.1 cycles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56032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typical error on unseen engines (linear model on the same features 17.7, average 43.1)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320040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3364992"/>
            <a:ext cx="29992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Cambria"/>
              </a:rPr>
              <a:t>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06908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of test engines inside their 90% range (91% in cross-validation)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4709160"/>
            <a:ext cx="3456432" cy="146304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4873752"/>
            <a:ext cx="29992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CA30C"/>
                </a:solidFill>
                <a:latin typeface="Cambria"/>
              </a:rPr>
              <a:t>0 of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5577840"/>
            <a:ext cx="2999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range misses fail sooner than the lower bound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2733"/>
                </a:solidFill>
                <a:latin typeface="Cambria"/>
              </a:rPr>
              <a:t>Two sensors drive most estimates, and every alert comes with a plain-language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SHAP pushes from the LightGBM model on all test rows, summed per sensor. They explain the model, not the physics.</a:t>
            </a:r>
          </a:p>
        </p:txBody>
      </p:sp>
      <p:pic>
        <p:nvPicPr>
          <p:cNvPr id="4" name="Picture 3" descr="shap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04608"/>
            <a:ext cx="6035040" cy="400890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1691640"/>
            <a:ext cx="4736592" cy="132588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856232"/>
            <a:ext cx="42793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A78D6"/>
                </a:solidFill>
                <a:latin typeface="Cambria"/>
              </a:rPr>
              <a:t>17% + 15%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560320"/>
            <a:ext cx="4279392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of all pushes on the estimate come from LPT outlet temperature (s4) and HPC outlet static pressure (s11)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3200400"/>
            <a:ext cx="4736592" cy="2971800"/>
          </a:xfrm>
          <a:prstGeom prst="roundRect">
            <a:avLst>
              <a:gd name="adj" fmla="val 7000"/>
            </a:avLst>
          </a:prstGeom>
          <a:solidFill>
            <a:srgbClr val="14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33375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EC1FF"/>
                </a:solidFill>
                <a:latin typeface="Calibri"/>
              </a:rPr>
              <a:t>FIELD NOTE · ENGINE 81 · WRITTEN BY THE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703320"/>
            <a:ext cx="4206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Engine 81, after 213 cycles: about 7 cycles of life left (90% range 0 to 61). ALARM: sensors have drifted from this engine's healthy start. Main reason: LPT outlet temperature (s4) is 26.6 degR above this engine's healthy start; this shortens the estimate by 23.0 cycles compared with the average engine. Replace now: the lower bound has reached 0 cycles, at or below the 5-cycle threshold; allow about 5 cycles to replace.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2733"/>
                </a:solidFill>
                <a:latin typeface="Cambria"/>
              </a:rPr>
              <a:t>Predictive maintenance is cheapest: $32.0k per engine versus $39.0k for the best fixed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ALL COSTS ASSUMED: failure $150k and planned $30k (downtime included), wasted life $100/cycle, lead time 5 cycles. Settings chosen on other engines (5-fold).</a:t>
            </a:r>
          </a:p>
        </p:txBody>
      </p:sp>
      <p:pic>
        <p:nvPicPr>
          <p:cNvPr id="4" name="Picture 3" descr="cost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3693"/>
            <a:ext cx="7406640" cy="35249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32120"/>
            <a:ext cx="7406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670"/>
                </a:solidFill>
                <a:latin typeface="Calibri"/>
              </a:rPr>
              <a:t>Rule: replace when the lower bound of the 90% range reaches 5 cycles, then allow 5 cycles to act. Best fixed schedule: replace every 127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691640"/>
            <a:ext cx="3456432" cy="146304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856232"/>
            <a:ext cx="29992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A78D6"/>
                </a:solidFill>
                <a:latin typeface="Cambria"/>
              </a:rPr>
              <a:t>18%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560320"/>
            <a:ext cx="2999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cheaper than the best fixed schedule (95% range 9–25%)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3291840"/>
            <a:ext cx="3456432" cy="146304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456432"/>
            <a:ext cx="29992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2A78D6"/>
                </a:solidFill>
                <a:latin typeface="Cambria"/>
              </a:rPr>
              <a:t>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160520"/>
            <a:ext cx="29992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cheaper per operating cycle, a check that needs no price on wasted life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4892040"/>
            <a:ext cx="3456432" cy="128016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5056631"/>
            <a:ext cx="29992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A78D6"/>
                </a:solidFill>
                <a:latin typeface="Cambria"/>
              </a:rPr>
              <a:t>8 vs 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760720"/>
            <a:ext cx="2999232" cy="320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Calibri"/>
              </a:rPr>
              <a:t>cycles of life thrown away per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mbria"/>
              </a:rPr>
              <a:t>Recommendation: pilot predictive maintenance on one fleet, then roll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8C4CE"/>
                </a:solidFill>
                <a:latin typeface="Calibri"/>
              </a:rPr>
              <a:t>Pilot targets are the validated results in this deck; dates and budgets are left to the operator.</a:t>
            </a:r>
          </a:p>
        </p:txBody>
      </p:sp>
      <p:sp>
        <p:nvSpPr>
          <p:cNvPr id="4" name="Pentagon 3"/>
          <p:cNvSpPr/>
          <p:nvPr/>
        </p:nvSpPr>
        <p:spPr>
          <a:xfrm>
            <a:off x="548640" y="1783080"/>
            <a:ext cx="3611880" cy="685800"/>
          </a:xfrm>
          <a:prstGeom prst="homePlat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9260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3502152" cy="2514600"/>
          </a:xfrm>
          <a:prstGeom prst="roundRect">
            <a:avLst>
              <a:gd name="adj" fmla="val 7000"/>
            </a:avLst>
          </a:prstGeom>
          <a:solidFill>
            <a:srgbClr val="22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3044952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Run the pipeline on real sensor history from one fleet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Success: warnings at least 55 cycles ahead for 90% of machines, false alarms near 4%, ranges holding about 90% of outcomes</a:t>
            </a:r>
          </a:p>
        </p:txBody>
      </p:sp>
      <p:sp>
        <p:nvSpPr>
          <p:cNvPr id="8" name="Chevron 7"/>
          <p:cNvSpPr/>
          <p:nvPr/>
        </p:nvSpPr>
        <p:spPr>
          <a:xfrm>
            <a:off x="4325112" y="1783080"/>
            <a:ext cx="3611880" cy="685800"/>
          </a:xfrm>
          <a:prstGeom prst="chevron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1783080"/>
            <a:ext cx="29260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Validate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697480"/>
            <a:ext cx="3502152" cy="2514600"/>
          </a:xfrm>
          <a:prstGeom prst="roundRect">
            <a:avLst>
              <a:gd name="adj" fmla="val 7000"/>
            </a:avLst>
          </a:prstGeom>
          <a:solidFill>
            <a:srgbClr val="22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880360"/>
            <a:ext cx="3044952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Replace placeholder costs with finance figures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Re-run the sensitivity: the case weakens if wasted life is worth under $50 per cycle or replacing takes 20+ cycles after an alert</a:t>
            </a:r>
          </a:p>
        </p:txBody>
      </p:sp>
      <p:sp>
        <p:nvSpPr>
          <p:cNvPr id="12" name="Chevron 11"/>
          <p:cNvSpPr/>
          <p:nvPr/>
        </p:nvSpPr>
        <p:spPr>
          <a:xfrm>
            <a:off x="8101583" y="1783080"/>
            <a:ext cx="3611880" cy="685800"/>
          </a:xfrm>
          <a:prstGeom prst="chevron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13063" y="1783080"/>
            <a:ext cx="29260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Roll 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2697480"/>
            <a:ext cx="3502152" cy="2514600"/>
          </a:xfrm>
          <a:prstGeom prst="roundRect">
            <a:avLst>
              <a:gd name="adj" fmla="val 7000"/>
            </a:avLst>
          </a:prstGeom>
          <a:solidFill>
            <a:srgbClr val="22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880360"/>
            <a:ext cx="3044952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Daily triage in the dashboard: replace now, plan, monitor</a:t>
            </a:r>
          </a:p>
          <a:p>
            <a:pPr algn="l" marL="201168" indent="-201168">
              <a:spcAft>
                <a:spcPts val="1000"/>
              </a:spcAft>
              <a:buChar char="•"/>
            </a:pPr>
            <a:r>
              <a:rPr sz="1500" b="0">
                <a:solidFill>
                  <a:srgbClr val="FFFFFF"/>
                </a:solidFill>
                <a:latin typeface="Calibri"/>
              </a:rPr>
              <a:t>Demo fleet today: 7 replace now, 46 plan, 47 monitor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7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The ask: </a:t>
            </a:r>
            <a:r>
              <a:rPr sz="1800" b="0">
                <a:solidFill>
                  <a:srgbClr val="FFFFFF"/>
                </a:solidFill>
                <a:latin typeface="Calibri"/>
              </a:rPr>
              <a:t>approve a pilot on one fleet's sensor history, with this deck's results as the bar to clear.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2733"/>
                </a:solidFill>
                <a:latin typeface="Cambria"/>
              </a:rPr>
              <a:t>The case holds unless wasted life is cheap or replacement is slow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82512"/>
            <a:ext cx="110916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670"/>
                </a:solidFill>
                <a:latin typeface="Calibri"/>
              </a:rPr>
              <a:t>Sensitivity: each point re-chooses the settings on other engines; band = 95% bootstrap range. All costs assumed.</a:t>
            </a:r>
          </a:p>
        </p:txBody>
      </p:sp>
      <p:pic>
        <p:nvPicPr>
          <p:cNvPr id="4" name="Picture 3" descr="cost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912" y="1600200"/>
            <a:ext cx="9203126" cy="3154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846320"/>
            <a:ext cx="5440680" cy="14173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91947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03B3B"/>
                </a:solidFill>
                <a:latin typeface="Calibri"/>
              </a:rPr>
              <a:t>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93792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200"/>
              </a:spcAft>
              <a:buChar char="•"/>
            </a:pPr>
            <a:r>
              <a:rPr sz="1400" b="0">
                <a:solidFill>
                  <a:srgbClr val="1B2733"/>
                </a:solidFill>
                <a:latin typeface="Calibri"/>
              </a:rPr>
              <a:t>Wasted life under $50/cycle: savings 10% or less, not certain</a:t>
            </a:r>
          </a:p>
          <a:p>
            <a:pPr algn="l" marL="201168" indent="-201168">
              <a:spcAft>
                <a:spcPts val="200"/>
              </a:spcAft>
              <a:buChar char="•"/>
            </a:pPr>
            <a:r>
              <a:rPr sz="1400" b="0">
                <a:solidFill>
                  <a:srgbClr val="1B2733"/>
                </a:solidFill>
                <a:latin typeface="Calibri"/>
              </a:rPr>
              <a:t>Replacing takes 20+ cycles: savings 11%, 3 failures</a:t>
            </a:r>
          </a:p>
          <a:p>
            <a:pPr algn="l" marL="201168" indent="-201168">
              <a:spcAft>
                <a:spcPts val="200"/>
              </a:spcAft>
              <a:buChar char="•"/>
            </a:pPr>
            <a:r>
              <a:rPr sz="1400" b="0">
                <a:solidFill>
                  <a:srgbClr val="1B2733"/>
                </a:solidFill>
                <a:latin typeface="Calibri"/>
              </a:rPr>
              <a:t>Failures 10× a planned job: one failure can decide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846320"/>
            <a:ext cx="5440680" cy="14173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491947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5193792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spcAft>
                <a:spcPts val="200"/>
              </a:spcAft>
              <a:buChar char="•"/>
            </a:pPr>
            <a:r>
              <a:rPr sz="1400" b="0">
                <a:solidFill>
                  <a:srgbClr val="1B2733"/>
                </a:solidFill>
                <a:latin typeface="Calibri"/>
              </a:rPr>
              <a:t>Per-condition calibration (FD004 ranges: 84%)</a:t>
            </a:r>
          </a:p>
          <a:p>
            <a:pPr algn="l" marL="201168" indent="-201168">
              <a:spcAft>
                <a:spcPts val="200"/>
              </a:spcAft>
              <a:buChar char="•"/>
            </a:pPr>
            <a:r>
              <a:rPr sz="1400" b="0">
                <a:solidFill>
                  <a:srgbClr val="1B2733"/>
                </a:solidFill>
                <a:latin typeface="Calibri"/>
              </a:rPr>
              <a:t>Pilot on real sensor data and real costs</a:t>
            </a:r>
          </a:p>
          <a:p>
            <a:pPr algn="l" marL="201168" indent="-201168">
              <a:spcAft>
                <a:spcPts val="200"/>
              </a:spcAft>
              <a:buChar char="•"/>
            </a:pPr>
            <a:r>
              <a:rPr sz="1400" b="0">
                <a:solidFill>
                  <a:srgbClr val="1B2733"/>
                </a:solidFill>
                <a:latin typeface="Calibri"/>
              </a:rPr>
              <a:t>Alarm thresholds from early-life data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case study</dc:title>
  <dc:subject/>
  <dc:creator>Richardy Lobo Sapan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